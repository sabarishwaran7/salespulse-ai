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SLIDE 1 • PROBLEM CONTEXT &amp; ANALYTICAL EVIDENCE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The Manager Problem &amp; 3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Manager Problem: On 21 Aug 2026, SpendNest received 44 interaction records (30 calls, 14 meetings), but only 17 had initial transcripts (18 post-update). Managers face noisy labels, delayed transcripts, and fragmented records without CRM ground truth.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Finding 1: Asterloom Systems (M03) — Domestic Card Reimbursement &amp; Dual Approvals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Citation: M03 Turn 3 [00:06:04] Customer B: 'Cards first. Our overseas team already has a provider they like. Here we reimburse employees through bank transfer... We need dual approval workflows.'</a:t>
            </a:r>
            <a:br/>
            <a:r>
              <a:t>• Impact: Routed to Deal Next Steps; scheduled dual-approval demo. Avoided pitching against overseas incumbent.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Finding 2: Willowfield Trust (M07) — Live Screen Bug Reproduction (Late Batch)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Citation: M07 Turn 2 &amp; 3 [00:09:59] Customer A: 'I am changing this event-payment description... The field still shows the earlier wording. So the change is not appearing after you save, is that right? Yes.'</a:t>
            </a:r>
            <a:br/>
            <a:r>
              <a:t>• Impact: Routed to Customer Success &amp; Bug Escalation; created urgent engineering defect ticket.</a:t>
            </a:r>
          </a:p>
          <a:p>
            <a:pPr>
              <a:spcBef>
                <a:spcPts val="800"/>
              </a:spcBef>
              <a:defRPr sz="1300" b="1">
                <a:solidFill>
                  <a:srgbClr val="1E293B"/>
                </a:solidFill>
              </a:defRPr>
            </a:pPr>
            <a:r>
              <a:t>Finding 3: Pranav / Harborlight Advisory (C01) — Cold Outreach Disqualification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Citation: C01 Quote: 'Our processes are already very automated. We have a fairly advanced setup, so I don't think this is something we need... where did you find my details?'</a:t>
            </a:r>
            <a:br/>
            <a:r>
              <a:t>• Impact: Routed to Sales Coaching on permission openers; marked disqualified rather than logging fake pipeline.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SLIDE 2 • UI/UX ARCHITECTURE &amp; RESTRAINT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Interface Choices &amp; Deliberate Omissions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Deliberate Design Choices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Evaluation Replay Controller: 1-click execution of initial batch (01_initial), repeat deduplication, and late update (02_update) with live toast confirmation.</a:t>
            </a:r>
            <a:br/>
            <a:r>
              <a:t>• Explicit Denominators: Headline KPIs display explicit denominators (e.g. 18 / 44 usable texts (40.9%), 11 / 30 connected calls (36.7%)).</a:t>
            </a:r>
            <a:br/>
            <a:r>
              <a:t>• Rep vs. Organizer Separation: Separate selectors distinguish Call Reps (Arun, Leela, Meera, Kiran, Dev) from Meeting Organizers (team06–team14).</a:t>
            </a:r>
            <a:br/>
            <a:r>
              <a:t>• Manager Daily Briefing: Dedicated 4-tab briefing covering Deal Next Steps, Customer Escalations, Coaching, and Boundaries.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What Was Deliberately Left Out (Honest Uncertainty)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No Fabricated Pipeline Values: Deal amounts are withheld from the dataset; we declined to invent speculative pipeline currency sums.</a:t>
            </a:r>
            <a:br/>
            <a:r>
              <a:t>• No Silent AI Guessing on Un-transcribed Records: Records B01–B20 (telephony) and M05, M08, M11 (silent notetakers) are classified as 'No Usable Text / Stored Record' rather than hallucinated AI summaries.</a:t>
            </a:r>
            <a:br/>
            <a:r>
              <a:t>• No Cross-Meeting Speaker Extrapolations: Speaker labels ('Team member A', 'Customer A') are strictly local to individual meetings.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SLIDE 3 • CATEGORIZATION &amp; JUDGMENT PRESERVATION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Routing Taxonomy &amp; The Difficult Case (M07)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Differentiated Routing Taxonomy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Sales Coaching: Cold call objections (C01), StoreHarbor displacement discovery (C05), listening in roaming conditions (C03).</a:t>
            </a:r>
            <a:br/>
            <a:r>
              <a:t>• Deal Next Steps: Commercial agreements with owners and due dates (Asterloom M03, Willowbank C07, Milan API C03).</a:t>
            </a:r>
            <a:br/>
            <a:r>
              <a:t>• Customer Follow-Up: Onboarding links (Brookmint M09), card acceptance concerns (Cedarwave M04), voicemails (C02, C04).</a:t>
            </a:r>
            <a:br/>
            <a:r>
              <a:t>• Internal / Vendor Note: Electronic invoicing webhooks (LedgerBridge M02), billing training (M10).</a:t>
            </a:r>
            <a:br/>
            <a:r>
              <a:t>• No Usable Text / Stored Record: Preserved intake evidence for background telephony and silent meetings.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The Difficult Case: Preserving Judgment on M07 (Willowfield Trust)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The Conflict: Meeting M07 arrives in 01_initial with 0 turns. The manager inspects metadata and manually routes it to Customer Follow-Up / Urgent Escalation. Later, 02_update arrives with Revision 2 and 27 turns.</a:t>
            </a:r>
            <a:br/>
            <a:r>
              <a:t>• The Risk: Naive systems erase manual manager decisions upon receiving fresh upstream data.</a:t>
            </a:r>
            <a:br/>
            <a:r>
              <a:t>• Our Solution (Rule 4 &amp; 5): We isolate manual_route_override from upstream payload fields. When Revision 2 arrives:</a:t>
            </a:r>
            <a:br/>
            <a:r>
              <a:t>  1. Source payload and transcript turns are completely updated.</a:t>
            </a:r>
            <a:br/>
            <a:r>
              <a:t>  2. The manager's manual route remains in effect (is_manually_routed: true).</a:t>
            </a:r>
            <a:br/>
            <a:r>
              <a:t>  3. Analysis freshness is explicitly flagged as 'Stale (Awaiting Review)' so the manager knows late evidence arrived.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SLIDE 4 • MATHEMATICAL RIGOR &amp; DENOMINATORS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Verification of Numbers &amp; Evidence Citations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Source-Verified Metrics &amp; Baseline Calculations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Total Selected Records: 44 interactions (30 calls, 14 meetings). Keyed strictly by (source_type, source_id).</a:t>
            </a:r>
            <a:br/>
            <a:r>
              <a:t>• Initial Coverage: 17 / 44 (38.6%) = 10 calls (C01–C10) + 7 meetings (M01–M04, M06, M09, M10).</a:t>
            </a:r>
            <a:br/>
            <a:r>
              <a:t>• Post-Update Coverage: 18 / 44 (40.9%) = M07 added with 27 turns. Total unique records remains exactly 44.</a:t>
            </a:r>
            <a:br/>
            <a:r>
              <a:t>• Source-Reported Connection Rate: 11 / 30 (36.7%) = calls with is_connected=true / calls with non-null is_connected.</a:t>
            </a:r>
            <a:br/>
            <a:r>
              <a:t>• Call Rep Activity: Arun (15 calls), Leela (8 calls), Meera (5 calls), Kiran (1 call), Dev (1 call).</a:t>
            </a:r>
            <a:br/>
            <a:r>
              <a:t>• Meeting Organizers: team08 (3), team09 (3), team06 (1), team07 (1), team10 (1), team11 (1), team12 (1), team13 (1), team14 (1), arun (1).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</a:defRPr>
            </a:pPr>
            <a:r>
              <a:t>Verification Against Repeat Ingestion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Repeat Import Test: Re-importing 01_initial.json results in 0 created, 0 updated, and 44 ignored records.</a:t>
            </a:r>
            <a:br/>
            <a:r>
              <a:t>• Evidence Traceability: Every recommendation in the Manager Brief cites an exact turn number (meetings) or verbatim quote (calls).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SLIDE 5 • TECHNICAL TRADE-OFFS &amp; ENGINEERING NEXT STEPS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Trade-offs, AI Usage &amp;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1 Deliberately Rejected Decision &amp; Accepted Trade-off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Rejected: Generating synthetic AI summaries for silent notetaker meetings (M05, M08, M11) based on calendar titles.</a:t>
            </a:r>
            <a:br/>
            <a:r>
              <a:t>• Accepted Trade-off: Manager sees 'No Usable Text / Stored Record' for 6 meetings rather than artificial summaries.</a:t>
            </a:r>
            <a:br/>
            <a:r>
              <a:t>• Rationale: Titles like 'SpendNest setup - Pinehaven Studio' are unverified hints; fabricating deal context without speech creates dangerous manager blind spots.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AI Implementation Architecture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• Pre-Generated SpendNest Intelligence: Deterministic, high-accuracy analysis citing exact quotes/turns; guarantees instantaneous test reproducibility without external API downtime.</a:t>
            </a:r>
            <a:br/>
            <a:r>
              <a:t>• Dynamic Groq LLM Engine (LLaMA 3.3 70B): Active for real-time transcript analysis, custom diff reviews, and interactive routing suggestions.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Known Limitations &amp; Future Roadmap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1. Calendar Attendee Verification: Upstream payload provides organizer email without participant attendance records; future sync with calendar attendee status.</a:t>
            </a:r>
            <a:br/>
            <a:r>
              <a:t>2. Audio Playback: Current dataset provides abridged text; integrating synchronized waveform players when audio is unredacted.</a:t>
            </a:r>
            <a:br/>
            <a:r>
              <a:t>3. Bi-directional CRM Sync: Webhooks to sync approved route decisions directly to HubSpot/Salesforce.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